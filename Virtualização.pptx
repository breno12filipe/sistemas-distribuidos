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5143500" cx="9144000"/>
  <p:notesSz cx="6858000" cy="9144000"/>
  <p:embeddedFontLst>
    <p:embeddedFont>
      <p:font typeface="PT Sans Narrow"/>
      <p:regular r:id="rId14"/>
      <p:bold r:id="rId15"/>
    </p:embeddedFont>
    <p:embeddedFont>
      <p:font typeface="Open Sans"/>
      <p:regular r:id="rId16"/>
      <p:bold r:id="rId17"/>
      <p:italic r:id="rId18"/>
      <p:boldItalic r:id="rId1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PTSansNarrow-bold.fntdata"/><Relationship Id="rId14" Type="http://schemas.openxmlformats.org/officeDocument/2006/relationships/font" Target="fonts/PTSansNarrow-regular.fntdata"/><Relationship Id="rId17" Type="http://schemas.openxmlformats.org/officeDocument/2006/relationships/font" Target="fonts/OpenSans-bold.fntdata"/><Relationship Id="rId16" Type="http://schemas.openxmlformats.org/officeDocument/2006/relationships/font" Target="fonts/OpenSans-regular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OpenSans-boldItalic.fntdata"/><Relationship Id="rId6" Type="http://schemas.openxmlformats.org/officeDocument/2006/relationships/slide" Target="slides/slide1.xml"/><Relationship Id="rId18" Type="http://schemas.openxmlformats.org/officeDocument/2006/relationships/font" Target="fonts/OpenSans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e70b4d40ed_0_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e70b4d40ed_0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e70b4d40ed_0_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e70b4d40ed_0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e70b4d40ed_0_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e70b4d40ed_0_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>
                <a:solidFill>
                  <a:schemeClr val="dk1"/>
                </a:solidFill>
              </a:rPr>
              <a:t>O primeiro conceito de virtualização começou em 1960 com o projeto experimental M44/44X, da </a:t>
            </a:r>
            <a:r>
              <a:rPr i="1" lang="pt-BR" sz="1200">
                <a:solidFill>
                  <a:schemeClr val="dk1"/>
                </a:solidFill>
              </a:rPr>
              <a:t>International Business Machines </a:t>
            </a:r>
            <a:r>
              <a:rPr lang="pt-BR" sz="1200">
                <a:solidFill>
                  <a:schemeClr val="dk1"/>
                </a:solidFill>
              </a:rPr>
              <a:t>(IBM).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pt-BR" sz="1200">
                <a:solidFill>
                  <a:schemeClr val="dk1"/>
                </a:solidFill>
              </a:rPr>
              <a:t>Em meados de 1970 os computadores só deveriam ter um sistema operacional dificultando a portabilidade de outros sistemas e a forma de solucionar este impasse era com as máquinas virtuais de forma livre das outras, com seus próprios aplicativos e bibliotecas. 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pt-BR" sz="1200">
                <a:solidFill>
                  <a:schemeClr val="dk1"/>
                </a:solidFill>
              </a:rPr>
              <a:t>Na décado de 80 a popularização da virtualização decaiu pois os hardwares começaram a se tornar </a:t>
            </a:r>
            <a:r>
              <a:rPr i="1" lang="pt-BR" sz="1200">
                <a:solidFill>
                  <a:schemeClr val="dk1"/>
                </a:solidFill>
              </a:rPr>
              <a:t>Personal Computer</a:t>
            </a:r>
            <a:r>
              <a:rPr lang="pt-BR" sz="1200">
                <a:solidFill>
                  <a:schemeClr val="dk1"/>
                </a:solidFill>
              </a:rPr>
              <a:t> (PC), Assim o investimento caiu e os PC não tinham suporte adequado para a virtualização.  Era, portanto, desperdício de capacidade da máquina e de investimento (MATTOS, 2008). 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200">
                <a:solidFill>
                  <a:schemeClr val="dk1"/>
                </a:solidFill>
              </a:rPr>
              <a:t>A visão de virtualização começou a tomar forma com a chegada da linguagem Java, onde proporcionou uma visão geral das máquinas virtuais em 1990 além do aumento das funcionalidades do PC. Atualmente, a virtualização é uma realidade visto que as linguagem são compiladas para as máquinas virtuais comumente presentes em celulares, tablets</a:t>
            </a:r>
            <a:r>
              <a:rPr i="1" lang="pt-BR" sz="1200">
                <a:solidFill>
                  <a:schemeClr val="dk1"/>
                </a:solidFill>
              </a:rPr>
              <a:t> </a:t>
            </a:r>
            <a:r>
              <a:rPr lang="pt-BR" sz="1200">
                <a:solidFill>
                  <a:schemeClr val="dk1"/>
                </a:solidFill>
              </a:rPr>
              <a:t>e outros portáteis.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e70b4d40ed_1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e70b4d40ed_1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e70b4d40ed_1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e70b4d40ed_1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e70b4d40ed_1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e70b4d40ed_1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e70b4d40ed_1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e70b4d40ed_1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Google Shape;10;p2"/>
          <p:cNvCxnSpPr/>
          <p:nvPr/>
        </p:nvCxnSpPr>
        <p:spPr>
          <a:xfrm>
            <a:off x="7007735" y="3176888"/>
            <a:ext cx="562200" cy="0"/>
          </a:xfrm>
          <a:prstGeom prst="straightConnector1">
            <a:avLst/>
          </a:prstGeom>
          <a:noFill/>
          <a:ln cap="flat" cmpd="sng" w="762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" name="Google Shape;11;p2"/>
          <p:cNvCxnSpPr/>
          <p:nvPr/>
        </p:nvCxnSpPr>
        <p:spPr>
          <a:xfrm>
            <a:off x="1575035" y="3158252"/>
            <a:ext cx="562200" cy="0"/>
          </a:xfrm>
          <a:prstGeom prst="straightConnector1">
            <a:avLst/>
          </a:prstGeom>
          <a:noFill/>
          <a:ln cap="flat" cmpd="sng" w="762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2" name="Google Shape;12;p2"/>
          <p:cNvGrpSpPr/>
          <p:nvPr/>
        </p:nvGrpSpPr>
        <p:grpSpPr>
          <a:xfrm>
            <a:off x="1004144" y="1022025"/>
            <a:ext cx="7136668" cy="152400"/>
            <a:chOff x="1346429" y="1011300"/>
            <a:chExt cx="6452100" cy="152400"/>
          </a:xfrm>
        </p:grpSpPr>
        <p:cxnSp>
          <p:nvCxnSpPr>
            <p:cNvPr id="13" name="Google Shape;13;p2"/>
            <p:cNvCxnSpPr/>
            <p:nvPr/>
          </p:nvCxnSpPr>
          <p:spPr>
            <a:xfrm rot="10800000">
              <a:off x="1346429" y="1011300"/>
              <a:ext cx="6452100" cy="0"/>
            </a:xfrm>
            <a:prstGeom prst="straightConnector1">
              <a:avLst/>
            </a:prstGeom>
            <a:noFill/>
            <a:ln cap="flat" cmpd="sng" w="7620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4" name="Google Shape;14;p2"/>
            <p:cNvCxnSpPr/>
            <p:nvPr/>
          </p:nvCxnSpPr>
          <p:spPr>
            <a:xfrm rot="10800000">
              <a:off x="1346429" y="1163700"/>
              <a:ext cx="6452100" cy="0"/>
            </a:xfrm>
            <a:prstGeom prst="straightConnector1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15" name="Google Shape;15;p2"/>
          <p:cNvGrpSpPr/>
          <p:nvPr/>
        </p:nvGrpSpPr>
        <p:grpSpPr>
          <a:xfrm>
            <a:off x="1004151" y="3969100"/>
            <a:ext cx="7136668" cy="152400"/>
            <a:chOff x="1346435" y="3969088"/>
            <a:chExt cx="6452100" cy="152400"/>
          </a:xfrm>
        </p:grpSpPr>
        <p:cxnSp>
          <p:nvCxnSpPr>
            <p:cNvPr id="16" name="Google Shape;16;p2"/>
            <p:cNvCxnSpPr/>
            <p:nvPr/>
          </p:nvCxnSpPr>
          <p:spPr>
            <a:xfrm>
              <a:off x="1346435" y="4121488"/>
              <a:ext cx="6452100" cy="0"/>
            </a:xfrm>
            <a:prstGeom prst="straightConnector1">
              <a:avLst/>
            </a:prstGeom>
            <a:noFill/>
            <a:ln cap="flat" cmpd="sng" w="7620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7" name="Google Shape;17;p2"/>
            <p:cNvCxnSpPr/>
            <p:nvPr/>
          </p:nvCxnSpPr>
          <p:spPr>
            <a:xfrm>
              <a:off x="1346435" y="3969088"/>
              <a:ext cx="6452100" cy="0"/>
            </a:xfrm>
            <a:prstGeom prst="straightConnector1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18" name="Google Shape;18;p2"/>
          <p:cNvSpPr txBox="1"/>
          <p:nvPr>
            <p:ph type="ctrTitle"/>
          </p:nvPr>
        </p:nvSpPr>
        <p:spPr>
          <a:xfrm>
            <a:off x="1004150" y="1751764"/>
            <a:ext cx="7136700" cy="1022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1pPr>
            <a:lvl2pPr lvl="1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2pPr>
            <a:lvl3pPr lvl="2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3pPr>
            <a:lvl4pPr lvl="3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4pPr>
            <a:lvl5pPr lvl="4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5pPr>
            <a:lvl6pPr lvl="5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6pPr>
            <a:lvl7pPr lvl="6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7pPr>
            <a:lvl8pPr lvl="7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8pPr>
            <a:lvl9pPr lvl="8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9pPr>
          </a:lstStyle>
          <a:p/>
        </p:txBody>
      </p:sp>
      <p:sp>
        <p:nvSpPr>
          <p:cNvPr id="19" name="Google Shape;19;p2"/>
          <p:cNvSpPr txBox="1"/>
          <p:nvPr>
            <p:ph idx="1" type="subTitle"/>
          </p:nvPr>
        </p:nvSpPr>
        <p:spPr>
          <a:xfrm>
            <a:off x="2137225" y="2850039"/>
            <a:ext cx="48705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20" name="Google Shape;20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/>
          <p:nvPr/>
        </p:nvSpPr>
        <p:spPr>
          <a:xfrm>
            <a:off x="-50" y="2571900"/>
            <a:ext cx="9144000" cy="2571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" name="Google Shape;23;p3"/>
          <p:cNvSpPr txBox="1"/>
          <p:nvPr>
            <p:ph type="title"/>
          </p:nvPr>
        </p:nvSpPr>
        <p:spPr>
          <a:xfrm>
            <a:off x="311700" y="814800"/>
            <a:ext cx="8571300" cy="942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/>
          <p:nvPr/>
        </p:nvSpPr>
        <p:spPr>
          <a:xfrm>
            <a:off x="-75" y="5045700"/>
            <a:ext cx="9144000" cy="978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4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28" name="Google Shape;28;p4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9" name="Google Shape;2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5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" type="body"/>
          </p:nvPr>
        </p:nvSpPr>
        <p:spPr>
          <a:xfrm>
            <a:off x="311700" y="1266175"/>
            <a:ext cx="39999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3" name="Google Shape;33;p5"/>
          <p:cNvSpPr txBox="1"/>
          <p:nvPr>
            <p:ph idx="2" type="body"/>
          </p:nvPr>
        </p:nvSpPr>
        <p:spPr>
          <a:xfrm>
            <a:off x="4832400" y="1266175"/>
            <a:ext cx="39999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4" name="Google Shape;3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6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37" name="Google Shape;3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0" name="Google Shape;4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1" name="Google Shape;4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6"/>
        </a:solidFill>
      </p:bgPr>
    </p:bg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"/>
          <p:cNvSpPr txBox="1"/>
          <p:nvPr>
            <p:ph type="title"/>
          </p:nvPr>
        </p:nvSpPr>
        <p:spPr>
          <a:xfrm>
            <a:off x="490250" y="526350"/>
            <a:ext cx="56136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4" name="Google Shape;4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9"/>
          <p:cNvSpPr/>
          <p:nvPr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7" name="Google Shape;47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8" name="Google Shape;48;p9"/>
          <p:cNvSpPr txBox="1"/>
          <p:nvPr>
            <p:ph type="title"/>
          </p:nvPr>
        </p:nvSpPr>
        <p:spPr>
          <a:xfrm>
            <a:off x="265500" y="1039675"/>
            <a:ext cx="4045200" cy="1675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9" name="Google Shape;49;p9"/>
          <p:cNvSpPr txBox="1"/>
          <p:nvPr>
            <p:ph idx="1" type="subTitle"/>
          </p:nvPr>
        </p:nvSpPr>
        <p:spPr>
          <a:xfrm>
            <a:off x="265500" y="27268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0" name="Google Shape;50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1" name="Google Shape;51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0"/>
          <p:cNvSpPr txBox="1"/>
          <p:nvPr>
            <p:ph idx="1" type="body"/>
          </p:nvPr>
        </p:nvSpPr>
        <p:spPr>
          <a:xfrm>
            <a:off x="311700" y="423072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T Sans Narrow"/>
              <a:buNone/>
              <a:defRPr sz="2400">
                <a:latin typeface="PT Sans Narrow"/>
                <a:ea typeface="PT Sans Narrow"/>
                <a:cs typeface="PT Sans Narrow"/>
                <a:sym typeface="PT Sans Narrow"/>
              </a:defRPr>
            </a:lvl1pPr>
          </a:lstStyle>
          <a:p/>
        </p:txBody>
      </p:sp>
      <p:sp>
        <p:nvSpPr>
          <p:cNvPr id="54" name="Google Shape;54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1"/>
          <p:cNvSpPr/>
          <p:nvPr/>
        </p:nvSpPr>
        <p:spPr>
          <a:xfrm>
            <a:off x="-75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11"/>
          <p:cNvSpPr txBox="1"/>
          <p:nvPr>
            <p:ph hasCustomPrompt="1" type="title"/>
          </p:nvPr>
        </p:nvSpPr>
        <p:spPr>
          <a:xfrm>
            <a:off x="311700" y="1304850"/>
            <a:ext cx="8520600" cy="153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8" name="Google Shape;58;p11"/>
          <p:cNvSpPr txBox="1"/>
          <p:nvPr>
            <p:ph idx="1" type="body"/>
          </p:nvPr>
        </p:nvSpPr>
        <p:spPr>
          <a:xfrm>
            <a:off x="311700" y="2995650"/>
            <a:ext cx="8520600" cy="10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9" name="Google Shape;59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tropic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Open Sans"/>
              <a:buChar char="●"/>
              <a:defRPr sz="18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●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●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hyperlink" Target="http://www.tecmundo.com.br/web/1624-o-que-e-virtualizacao-.htm%20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3"/>
          <p:cNvSpPr txBox="1"/>
          <p:nvPr>
            <p:ph type="ctrTitle"/>
          </p:nvPr>
        </p:nvSpPr>
        <p:spPr>
          <a:xfrm>
            <a:off x="1003650" y="1214064"/>
            <a:ext cx="7136700" cy="1022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Virtualização</a:t>
            </a:r>
            <a:endParaRPr/>
          </a:p>
        </p:txBody>
      </p:sp>
      <p:sp>
        <p:nvSpPr>
          <p:cNvPr id="67" name="Google Shape;67;p13"/>
          <p:cNvSpPr txBox="1"/>
          <p:nvPr>
            <p:ph idx="1" type="subTitle"/>
          </p:nvPr>
        </p:nvSpPr>
        <p:spPr>
          <a:xfrm>
            <a:off x="2137225" y="2850039"/>
            <a:ext cx="48705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André Santos, Breno Silva</a:t>
            </a:r>
            <a:endParaRPr/>
          </a:p>
        </p:txBody>
      </p:sp>
      <p:sp>
        <p:nvSpPr>
          <p:cNvPr id="68" name="Google Shape;68;p13"/>
          <p:cNvSpPr txBox="1"/>
          <p:nvPr>
            <p:ph idx="1" type="subTitle"/>
          </p:nvPr>
        </p:nvSpPr>
        <p:spPr>
          <a:xfrm>
            <a:off x="2268400" y="4803900"/>
            <a:ext cx="4870500" cy="33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/>
              <a:t>BRASÍLIA, 2021</a:t>
            </a:r>
            <a:endParaRPr sz="1200"/>
          </a:p>
        </p:txBody>
      </p:sp>
      <p:sp>
        <p:nvSpPr>
          <p:cNvPr id="69" name="Google Shape;69;p13"/>
          <p:cNvSpPr txBox="1"/>
          <p:nvPr>
            <p:ph type="ctrTitle"/>
          </p:nvPr>
        </p:nvSpPr>
        <p:spPr>
          <a:xfrm>
            <a:off x="1135300" y="1991627"/>
            <a:ext cx="7136700" cy="546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/>
              <a:t>CONCEITOS E APLICAÇÕES</a:t>
            </a:r>
            <a:endParaRPr sz="2200"/>
          </a:p>
        </p:txBody>
      </p:sp>
      <p:sp>
        <p:nvSpPr>
          <p:cNvPr id="70" name="Google Shape;70;p13"/>
          <p:cNvSpPr txBox="1"/>
          <p:nvPr>
            <p:ph idx="1" type="subTitle"/>
          </p:nvPr>
        </p:nvSpPr>
        <p:spPr>
          <a:xfrm>
            <a:off x="2750700" y="3214550"/>
            <a:ext cx="36123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00"/>
              <a:t>21900345			   21901629</a:t>
            </a:r>
            <a:endParaRPr sz="9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4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O que é a virtualização?</a:t>
            </a:r>
            <a:endParaRPr/>
          </a:p>
        </p:txBody>
      </p:sp>
      <p:sp>
        <p:nvSpPr>
          <p:cNvPr id="76" name="Google Shape;76;p14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pt-BR"/>
              <a:t>Virtualização é a capacidade de criar um computador virtual no seu PC</a:t>
            </a:r>
            <a:endParaRPr/>
          </a:p>
        </p:txBody>
      </p:sp>
      <p:pic>
        <p:nvPicPr>
          <p:cNvPr id="77" name="Google Shape;77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2950" y="1970750"/>
            <a:ext cx="7620000" cy="2857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5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Formas de Virtualização</a:t>
            </a:r>
            <a:endParaRPr/>
          </a:p>
        </p:txBody>
      </p:sp>
      <p:sp>
        <p:nvSpPr>
          <p:cNvPr id="83" name="Google Shape;83;p15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pt-BR"/>
              <a:t>O mais comum é a da paravirtualização, feitas com por meios de emuladores ou hipervisores, por exemplos, </a:t>
            </a:r>
            <a:r>
              <a:rPr lang="pt-BR"/>
              <a:t>VirtualBox</a:t>
            </a:r>
            <a:r>
              <a:rPr lang="pt-BR"/>
              <a:t> e VmWare</a:t>
            </a:r>
            <a:endParaRPr/>
          </a:p>
        </p:txBody>
      </p:sp>
      <p:pic>
        <p:nvPicPr>
          <p:cNvPr id="84" name="Google Shape;84;p15"/>
          <p:cNvPicPr preferRelativeResize="0"/>
          <p:nvPr/>
        </p:nvPicPr>
        <p:blipFill rotWithShape="1">
          <a:blip r:embed="rId3">
            <a:alphaModFix/>
          </a:blip>
          <a:srcRect b="0" l="0" r="0" t="35550"/>
          <a:stretch/>
        </p:blipFill>
        <p:spPr>
          <a:xfrm>
            <a:off x="-120275" y="2907800"/>
            <a:ext cx="5086924" cy="2458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46350" y="2248425"/>
            <a:ext cx="4153277" cy="2492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6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Fundamentação Teórica</a:t>
            </a:r>
            <a:endParaRPr/>
          </a:p>
        </p:txBody>
      </p:sp>
      <p:sp>
        <p:nvSpPr>
          <p:cNvPr id="91" name="Google Shape;91;p16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Começo em 1960, com M44/44X da International Business Machines (IBM)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pt-BR"/>
              <a:t>Em meados de 1970 começaram a usar as máquinas virtuais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pt-BR"/>
              <a:t>Na décado de 80 veio os Personal Computer (PC) decaindo o investimento para as Máquinas Virtuais.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pt-BR"/>
              <a:t>E finalmente começou tomar forma com a chegada do JAVA em 1990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7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Vantagens e </a:t>
            </a:r>
            <a:r>
              <a:rPr lang="pt-BR"/>
              <a:t>Desvantagens</a:t>
            </a:r>
            <a:endParaRPr/>
          </a:p>
        </p:txBody>
      </p:sp>
      <p:sp>
        <p:nvSpPr>
          <p:cNvPr id="97" name="Google Shape;97;p17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As vantagem da virtualização são muitas, incluindo, a economia com eletricidade e hardware. Assim como outros usos, como armazenar sistemas operacionais mais antigos, certificar-se que um sistema esteja funcionando em todos os sistemas operacionais, usa como máquina para teste.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pt-BR"/>
              <a:t>O espaço em disco é uma das principais desvantagens da utilização da virtualização, pois cada máquina virtual precisa de todos os arquivos do sistema operacional instalado, ao final, o espaço ocupado por eles é enorme.</a:t>
            </a:r>
            <a:endParaRPr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8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Etapas do Desenvolvimento do Trabalho</a:t>
            </a:r>
            <a:endParaRPr/>
          </a:p>
        </p:txBody>
      </p:sp>
      <p:sp>
        <p:nvSpPr>
          <p:cNvPr id="103" name="Google Shape;103;p18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pt-BR"/>
              <a:t>Explicar para a empresa o conceito sobre virtualização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pt-BR"/>
              <a:t>Verificar o hardware da empresa; 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pt-BR"/>
              <a:t>Após uma análise nas especificações dos computadores foi concluído que era possível </a:t>
            </a:r>
            <a:r>
              <a:rPr lang="pt-BR"/>
              <a:t>implementar</a:t>
            </a:r>
            <a:r>
              <a:rPr lang="pt-BR"/>
              <a:t> a virtualização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pt-BR"/>
              <a:t>As máquina virtuais foram configuradas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pt-BR"/>
              <a:t>E o contato com a empresa foi mantido até concluir que esta empresa que </a:t>
            </a:r>
            <a:r>
              <a:rPr lang="pt-BR"/>
              <a:t>utiliza</a:t>
            </a:r>
            <a:r>
              <a:rPr lang="pt-BR"/>
              <a:t> a virtualização possui diversas vantagens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9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Resultados</a:t>
            </a:r>
            <a:endParaRPr/>
          </a:p>
        </p:txBody>
      </p:sp>
      <p:sp>
        <p:nvSpPr>
          <p:cNvPr id="109" name="Google Shape;109;p19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pt-BR"/>
              <a:t>A implantação da virtualização na empresa despertou curiosidade de funcionários ao mostrar os benefícios desta ferramenta, que facilidade o backup, organização em cenário de assitência, aumento do espaço </a:t>
            </a:r>
            <a:r>
              <a:rPr lang="pt-BR"/>
              <a:t>físico, menos manutenção de hardware e menor gasto de energia.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0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Referência</a:t>
            </a:r>
            <a:endParaRPr/>
          </a:p>
        </p:txBody>
      </p:sp>
      <p:sp>
        <p:nvSpPr>
          <p:cNvPr id="115" name="Google Shape;115;p20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AMARAL, F. E. </a:t>
            </a:r>
            <a:r>
              <a:rPr b="1" lang="pt-B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“O que é Virtualização”</a:t>
            </a:r>
            <a:r>
              <a:rPr lang="pt-B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.Tecmundo, 2009</a:t>
            </a:r>
            <a:r>
              <a:rPr b="1" lang="pt-B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pt-B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Disponível em: &lt;</a:t>
            </a:r>
            <a:r>
              <a:rPr lang="pt-BR" sz="1100">
                <a:solidFill>
                  <a:schemeClr val="hlink"/>
                </a:solidFill>
                <a:uFill>
                  <a:noFill/>
                </a:uFill>
                <a:latin typeface="Arial"/>
                <a:ea typeface="Arial"/>
                <a:cs typeface="Arial"/>
                <a:sym typeface="Arial"/>
                <a:hlinkClick r:id="rId3"/>
              </a:rPr>
              <a:t>http://www.tecmundo.com.br/web/1624-o-que-e-virtualizacao-.htm</a:t>
            </a:r>
            <a:r>
              <a:rPr lang="pt-BR" sz="110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pt-B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&gt;Acesso: 17. Ago. 2021.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MATTOS, K. M. da C. (2008), </a:t>
            </a:r>
            <a:r>
              <a:rPr b="1" lang="pt-B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“Os impactos ambientais causados pelo lixo eletrônico e o uso da logística reversa para minimizar os efeitos causados ao meio ambiente”</a:t>
            </a:r>
            <a:r>
              <a:rPr lang="pt-B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In:</a:t>
            </a:r>
            <a:r>
              <a:rPr b="1" lang="pt-B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pt-B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Encontro Nacional de Engenharia de Produção, Rio de Janeiro.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PARKUTS, Eliésio; DUFECH, Saulo; ORLOVSKI, Regiane. </a:t>
            </a:r>
            <a:r>
              <a:rPr b="1" lang="pt-BR" sz="1100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Virtualização – Conceitos e Aplicações</a:t>
            </a:r>
            <a:r>
              <a:rPr lang="pt-BR" sz="1100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, Faculdade Guairacá - Guarapuava – PR,2013.</a:t>
            </a:r>
            <a:endParaRPr sz="1100">
              <a:solidFill>
                <a:srgbClr val="000000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POPEK E GOLDBERG (1974), </a:t>
            </a:r>
            <a:r>
              <a:rPr b="1" lang="pt-B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“</a:t>
            </a:r>
            <a:r>
              <a:rPr b="1" i="1" lang="pt-B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Formal requirements for virtualizable third generation architectures”</a:t>
            </a:r>
            <a:r>
              <a:rPr i="1" lang="pt-B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 Communications of the ACM</a:t>
            </a:r>
            <a:r>
              <a:rPr lang="pt-B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17(7):412– 421.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ropic">
  <a:themeElements>
    <a:clrScheme name="Tropic">
      <a:dk1>
        <a:srgbClr val="A1E8D9"/>
      </a:dk1>
      <a:lt1>
        <a:srgbClr val="FFFFFF"/>
      </a:lt1>
      <a:dk2>
        <a:srgbClr val="695D46"/>
      </a:dk2>
      <a:lt2>
        <a:srgbClr val="B3A77D"/>
      </a:lt2>
      <a:accent1>
        <a:srgbClr val="EF6C00"/>
      </a:accent1>
      <a:accent2>
        <a:srgbClr val="CE93D8"/>
      </a:accent2>
      <a:accent3>
        <a:srgbClr val="4DB6AC"/>
      </a:accent3>
      <a:accent4>
        <a:srgbClr val="FF9800"/>
      </a:accent4>
      <a:accent5>
        <a:srgbClr val="009668"/>
      </a:accent5>
      <a:accent6>
        <a:srgbClr val="EEFF41"/>
      </a:accent6>
      <a:hlink>
        <a:srgbClr val="009668"/>
      </a:hlink>
      <a:folHlink>
        <a:srgbClr val="00966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